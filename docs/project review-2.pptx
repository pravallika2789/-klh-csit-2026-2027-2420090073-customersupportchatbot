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72" r:id="rId16"/>
    <p:sldId id="273" r:id="rId17"/>
    <p:sldId id="270" r:id="rId18"/>
    <p:sldId id="274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4" y="-30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03094" y="-59943"/>
            <a:ext cx="6572885" cy="11330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005" y="1486153"/>
            <a:ext cx="11349989" cy="429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6.eacl-industry.13/?utm_source=chatgpt.com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404.17723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6.iwsds-1.35/?utm_source=chatgpt.com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47917" y="87121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17415" y="314198"/>
            <a:ext cx="36512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2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Review</a:t>
            </a:r>
            <a:r>
              <a:rPr sz="2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Meeting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0805" y="712723"/>
            <a:ext cx="7830820" cy="163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algn="ctr">
              <a:lnSpc>
                <a:spcPts val="188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on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4000"/>
              </a:lnSpc>
            </a:pPr>
            <a:r>
              <a:rPr sz="3600" spc="-50" dirty="0">
                <a:latin typeface="Calibri Light"/>
                <a:cs typeface="Calibri Light"/>
              </a:rPr>
              <a:t>LLM-</a:t>
            </a:r>
            <a:r>
              <a:rPr sz="3600" spc="-10" dirty="0">
                <a:latin typeface="Calibri Light"/>
                <a:cs typeface="Calibri Light"/>
              </a:rPr>
              <a:t>Based</a:t>
            </a:r>
            <a:r>
              <a:rPr sz="3600" spc="-150" dirty="0">
                <a:latin typeface="Calibri Light"/>
                <a:cs typeface="Calibri Light"/>
              </a:rPr>
              <a:t> </a:t>
            </a:r>
            <a:r>
              <a:rPr sz="3600" spc="-40" dirty="0">
                <a:latin typeface="Calibri Light"/>
                <a:cs typeface="Calibri Light"/>
              </a:rPr>
              <a:t>Customer</a:t>
            </a:r>
            <a:r>
              <a:rPr sz="3600" spc="-140" dirty="0">
                <a:latin typeface="Calibri Light"/>
                <a:cs typeface="Calibri Light"/>
              </a:rPr>
              <a:t> </a:t>
            </a:r>
            <a:r>
              <a:rPr sz="3600" spc="-25" dirty="0">
                <a:latin typeface="Calibri Light"/>
                <a:cs typeface="Calibri Light"/>
              </a:rPr>
              <a:t>Support</a:t>
            </a:r>
            <a:r>
              <a:rPr sz="3600" spc="-145" dirty="0">
                <a:latin typeface="Calibri Light"/>
                <a:cs typeface="Calibri Light"/>
              </a:rPr>
              <a:t> </a:t>
            </a:r>
            <a:r>
              <a:rPr sz="3600" spc="-30" dirty="0">
                <a:latin typeface="Calibri Light"/>
                <a:cs typeface="Calibri Light"/>
              </a:rPr>
              <a:t>Chatbot</a:t>
            </a:r>
            <a:r>
              <a:rPr sz="3600" spc="-135" dirty="0">
                <a:latin typeface="Calibri Light"/>
                <a:cs typeface="Calibri Light"/>
              </a:rPr>
              <a:t> </a:t>
            </a:r>
            <a:r>
              <a:rPr sz="3600" spc="-20" dirty="0">
                <a:latin typeface="Calibri Light"/>
                <a:cs typeface="Calibri Light"/>
              </a:rPr>
              <a:t>with</a:t>
            </a:r>
            <a:endParaRPr sz="3600">
              <a:latin typeface="Calibri Light"/>
              <a:cs typeface="Calibri Light"/>
            </a:endParaRPr>
          </a:p>
          <a:p>
            <a:pPr algn="ctr">
              <a:lnSpc>
                <a:spcPts val="4280"/>
              </a:lnSpc>
            </a:pPr>
            <a:r>
              <a:rPr sz="3600" spc="-40" dirty="0">
                <a:latin typeface="Calibri Light"/>
                <a:cs typeface="Calibri Light"/>
              </a:rPr>
              <a:t>Knowledge</a:t>
            </a:r>
            <a:r>
              <a:rPr sz="3600" spc="-135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Retrieval</a:t>
            </a:r>
            <a:endParaRPr sz="36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sz="1400" b="1" dirty="0">
                <a:solidFill>
                  <a:srgbClr val="00AFEF"/>
                </a:solidFill>
                <a:latin typeface="Times New Roman"/>
                <a:cs typeface="Times New Roman"/>
              </a:rPr>
              <a:t>Submitted</a:t>
            </a:r>
            <a:r>
              <a:rPr sz="1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by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1953" y="2322626"/>
            <a:ext cx="1455420" cy="67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">
              <a:lnSpc>
                <a:spcPct val="132200"/>
              </a:lnSpc>
              <a:spcBef>
                <a:spcPts val="100"/>
              </a:spcBef>
            </a:pPr>
            <a:r>
              <a:rPr sz="1600" spc="-10" dirty="0">
                <a:solidFill>
                  <a:srgbClr val="0D0D0D"/>
                </a:solidFill>
                <a:latin typeface="Times New Roman"/>
                <a:cs typeface="Times New Roman"/>
              </a:rPr>
              <a:t>M.VENNELA </a:t>
            </a:r>
            <a:r>
              <a:rPr sz="1600" spc="-45" dirty="0">
                <a:solidFill>
                  <a:srgbClr val="0D0D0D"/>
                </a:solidFill>
                <a:latin typeface="Times New Roman"/>
                <a:cs typeface="Times New Roman"/>
              </a:rPr>
              <a:t>R.PRAVALLIKA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3345" y="2322626"/>
            <a:ext cx="1061720" cy="6705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600" spc="-10" dirty="0">
                <a:solidFill>
                  <a:srgbClr val="0D0D0D"/>
                </a:solidFill>
                <a:latin typeface="Times New Roman"/>
                <a:cs typeface="Times New Roman"/>
              </a:rPr>
              <a:t>2420030218</a:t>
            </a:r>
            <a:endParaRPr sz="16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620"/>
              </a:spcBef>
            </a:pPr>
            <a:r>
              <a:rPr sz="1600" spc="-10" dirty="0">
                <a:solidFill>
                  <a:srgbClr val="0D0D0D"/>
                </a:solidFill>
                <a:latin typeface="Times New Roman"/>
                <a:cs typeface="Times New Roman"/>
              </a:rPr>
              <a:t>2420090073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8901" y="2991708"/>
            <a:ext cx="6148705" cy="25273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39065" algn="ctr">
              <a:lnSpc>
                <a:spcPct val="100000"/>
              </a:lnSpc>
              <a:spcBef>
                <a:spcPts val="520"/>
              </a:spcBef>
            </a:pPr>
            <a:r>
              <a:rPr sz="1600" b="1" dirty="0">
                <a:solidFill>
                  <a:srgbClr val="006FC0"/>
                </a:solidFill>
                <a:latin typeface="Times New Roman"/>
                <a:cs typeface="Times New Roman"/>
              </a:rPr>
              <a:t>Group:</a:t>
            </a:r>
            <a:r>
              <a:rPr sz="16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6FC0"/>
                </a:solidFill>
                <a:latin typeface="Times New Roman"/>
                <a:cs typeface="Times New Roman"/>
              </a:rPr>
              <a:t>15</a:t>
            </a:r>
            <a:r>
              <a:rPr sz="16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6FC0"/>
                </a:solidFill>
                <a:latin typeface="Times New Roman"/>
                <a:cs typeface="Times New Roman"/>
              </a:rPr>
              <a:t>Section</a:t>
            </a:r>
            <a:r>
              <a:rPr sz="16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16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6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  <a:p>
            <a:pPr marL="140970" algn="ctr">
              <a:lnSpc>
                <a:spcPct val="100000"/>
              </a:lnSpc>
              <a:spcBef>
                <a:spcPts val="625"/>
              </a:spcBef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Specialization-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Calibri"/>
                <a:cs typeface="Calibri"/>
              </a:rPr>
              <a:t>APPLIED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Calibri"/>
              <a:cs typeface="Calibri"/>
            </a:endParaRPr>
          </a:p>
          <a:p>
            <a:pPr marL="1738630" marR="1590675" indent="635" algn="ctr">
              <a:lnSpc>
                <a:spcPct val="114599"/>
              </a:lnSpc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Under</a:t>
            </a:r>
            <a:r>
              <a:rPr sz="2400" b="1" spc="-1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guidance</a:t>
            </a:r>
            <a:r>
              <a:rPr sz="2400" b="1" spc="-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of: 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DR.K.SWANTHANA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8" name="object 8" descr="Contact Bachupally-Bowrampet, Hyderabad Campus - KLH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8353" y="5821503"/>
            <a:ext cx="2342358" cy="8799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98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006FC0"/>
                </a:solidFill>
                <a:latin typeface="Times New Roman"/>
                <a:cs typeface="Times New Roman"/>
              </a:rPr>
              <a:t>Outline</a:t>
            </a:r>
            <a:r>
              <a:rPr sz="44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4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44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4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presentation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5813" y="1242566"/>
            <a:ext cx="4788535" cy="510984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latin typeface="Times New Roman"/>
                <a:cs typeface="Times New Roman"/>
              </a:rPr>
              <a:t>Problem </a:t>
            </a:r>
            <a:r>
              <a:rPr sz="3200" spc="-10" dirty="0">
                <a:latin typeface="Times New Roman"/>
                <a:cs typeface="Times New Roman"/>
              </a:rPr>
              <a:t>Statement</a:t>
            </a:r>
            <a:endParaRPr sz="3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spc="-10" dirty="0">
                <a:latin typeface="Times New Roman"/>
                <a:cs typeface="Times New Roman"/>
              </a:rPr>
              <a:t>Objectives</a:t>
            </a:r>
            <a:endParaRPr sz="3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spc="-10" dirty="0">
                <a:latin typeface="Calibri"/>
                <a:cs typeface="Calibri"/>
              </a:rPr>
              <a:t>Literature</a:t>
            </a:r>
            <a:r>
              <a:rPr sz="3200" spc="-1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Survey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latin typeface="Calibri"/>
                <a:cs typeface="Calibri"/>
              </a:rPr>
              <a:t>Research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Gap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Identification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spc="-10" dirty="0">
                <a:latin typeface="Calibri"/>
                <a:cs typeface="Calibri"/>
              </a:rPr>
              <a:t>Innovation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spc="-10" dirty="0">
                <a:latin typeface="Times New Roman"/>
                <a:cs typeface="Times New Roman"/>
              </a:rPr>
              <a:t>Novelty</a:t>
            </a:r>
            <a:endParaRPr sz="3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spc="-10" dirty="0">
                <a:latin typeface="Calibri"/>
                <a:cs typeface="Calibri"/>
              </a:rPr>
              <a:t>Creativity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spc="-10" dirty="0">
                <a:latin typeface="Calibri"/>
                <a:cs typeface="Calibri"/>
              </a:rPr>
              <a:t>Feasibility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latin typeface="Calibri"/>
                <a:cs typeface="Calibri"/>
              </a:rPr>
              <a:t>Project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Plan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 descr="Contact Bachupally-Bowrampet, Hyderabad Campus - KLH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95" y="134999"/>
            <a:ext cx="2036108" cy="764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407" rIns="0" bIns="0" rtlCol="0">
            <a:spAutoFit/>
          </a:bodyPr>
          <a:lstStyle/>
          <a:p>
            <a:pPr marL="845185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1F4E79"/>
                </a:solidFill>
                <a:latin typeface="Times New Roman"/>
                <a:cs typeface="Times New Roman"/>
              </a:rPr>
              <a:t>Problem</a:t>
            </a:r>
            <a:r>
              <a:rPr sz="5400" spc="-10" dirty="0">
                <a:solidFill>
                  <a:srgbClr val="1F4E79"/>
                </a:solidFill>
                <a:latin typeface="Times New Roman"/>
                <a:cs typeface="Times New Roman"/>
              </a:rPr>
              <a:t> Statement</a:t>
            </a:r>
            <a:endParaRPr sz="5400">
              <a:latin typeface="Times New Roman"/>
              <a:cs typeface="Times New Roman"/>
            </a:endParaRPr>
          </a:p>
        </p:txBody>
      </p:sp>
      <p:pic>
        <p:nvPicPr>
          <p:cNvPr id="3" name="object 3" descr="Contact Bachupally-Bowrampet, Hyderabad Campus - KLH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95" y="134999"/>
            <a:ext cx="2036108" cy="7646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7783" y="1371853"/>
            <a:ext cx="11021060" cy="478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8255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</a:tabLst>
            </a:pPr>
            <a:r>
              <a:rPr sz="2400" spc="-10" dirty="0">
                <a:latin typeface="Arial MT"/>
                <a:cs typeface="Arial MT"/>
              </a:rPr>
              <a:t>	Traditional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chatbots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depend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rules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keywords,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limiting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ability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handle </a:t>
            </a:r>
            <a:r>
              <a:rPr sz="2400" dirty="0">
                <a:latin typeface="Arial MT"/>
                <a:cs typeface="Arial MT"/>
              </a:rPr>
              <a:t>complex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queries.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 marR="471170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Arial MT"/>
                <a:cs typeface="Arial MT"/>
              </a:rPr>
              <a:t>	Large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knowledge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retrieval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difficult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time-</a:t>
            </a:r>
            <a:r>
              <a:rPr sz="2400" spc="-10" dirty="0">
                <a:latin typeface="Arial MT"/>
                <a:cs typeface="Arial MT"/>
              </a:rPr>
              <a:t>consuming.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 marR="399415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Arial MT"/>
                <a:cs typeface="Arial MT"/>
              </a:rPr>
              <a:t>	Standalone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LLMs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inaccurate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unsupported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responses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without </a:t>
            </a:r>
            <a:r>
              <a:rPr sz="2400" spc="-25" dirty="0">
                <a:latin typeface="Arial MT"/>
                <a:cs typeface="Arial MT"/>
              </a:rPr>
              <a:t>organization-</a:t>
            </a:r>
            <a:r>
              <a:rPr sz="2400" dirty="0">
                <a:latin typeface="Arial MT"/>
                <a:cs typeface="Arial MT"/>
              </a:rPr>
              <a:t>specific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knowledge.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Arial MT"/>
                <a:cs typeface="Arial MT"/>
              </a:rPr>
              <a:t>Existing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lack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context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awareness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source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transparency.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 marR="727075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Arial MT"/>
                <a:cs typeface="Arial MT"/>
              </a:rPr>
              <a:t>	Therefore,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RAG-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intelligent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chatbot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provides </a:t>
            </a:r>
            <a:r>
              <a:rPr sz="2400" dirty="0">
                <a:latin typeface="Arial MT"/>
                <a:cs typeface="Arial MT"/>
              </a:rPr>
              <a:t>accurate,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contextual,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explainable,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reliable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customer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074" rIns="0" bIns="0" rtlCol="0">
            <a:spAutoFit/>
          </a:bodyPr>
          <a:lstStyle/>
          <a:p>
            <a:pPr marL="2160905">
              <a:lnSpc>
                <a:spcPct val="100000"/>
              </a:lnSpc>
              <a:spcBef>
                <a:spcPts val="95"/>
              </a:spcBef>
            </a:pPr>
            <a:r>
              <a:rPr sz="4400" spc="-10" dirty="0">
                <a:latin typeface="Times New Roman"/>
                <a:cs typeface="Times New Roman"/>
              </a:rPr>
              <a:t>Objectives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 descr="Contact Bachupally-Bowrampet, Hyderabad Campus - KLH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95" y="134999"/>
            <a:ext cx="2036108" cy="7646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7357" y="1365503"/>
            <a:ext cx="11617960" cy="458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64184" indent="-10795">
              <a:lnSpc>
                <a:spcPct val="100000"/>
              </a:lnSpc>
              <a:spcBef>
                <a:spcPts val="95"/>
              </a:spcBef>
              <a:buSzPct val="95652"/>
              <a:buFont typeface="Arial MT"/>
              <a:buChar char="•"/>
              <a:tabLst>
                <a:tab pos="113030" algn="l"/>
              </a:tabLst>
            </a:pPr>
            <a:r>
              <a:rPr sz="2300" b="1" dirty="0">
                <a:latin typeface="Arial"/>
                <a:cs typeface="Arial"/>
              </a:rPr>
              <a:t>	Develop</a:t>
            </a:r>
            <a:r>
              <a:rPr sz="2300" b="1" spc="-25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an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intelligent</a:t>
            </a:r>
            <a:r>
              <a:rPr sz="2300" spc="-10" dirty="0">
                <a:latin typeface="Arial MT"/>
                <a:cs typeface="Arial MT"/>
              </a:rPr>
              <a:t> customer-</a:t>
            </a:r>
            <a:r>
              <a:rPr sz="2300" dirty="0">
                <a:latin typeface="Arial MT"/>
                <a:cs typeface="Arial MT"/>
              </a:rPr>
              <a:t>facing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chatbot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using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LLM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for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automated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customer support.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300">
              <a:latin typeface="Arial MT"/>
              <a:cs typeface="Arial MT"/>
            </a:endParaRPr>
          </a:p>
          <a:p>
            <a:pPr marL="12700" marR="5080" indent="-10795">
              <a:lnSpc>
                <a:spcPct val="100000"/>
              </a:lnSpc>
              <a:buSzPct val="95652"/>
              <a:buFont typeface="Arial MT"/>
              <a:buChar char="•"/>
              <a:tabLst>
                <a:tab pos="113030" algn="l"/>
              </a:tabLst>
            </a:pPr>
            <a:r>
              <a:rPr sz="2300" b="1" dirty="0">
                <a:latin typeface="Arial"/>
                <a:cs typeface="Arial"/>
              </a:rPr>
              <a:t>	Implement</a:t>
            </a:r>
            <a:r>
              <a:rPr sz="2300" b="1" spc="-40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RAG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system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using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b="1" dirty="0">
                <a:latin typeface="Arial"/>
                <a:cs typeface="Arial"/>
              </a:rPr>
              <a:t>embeddings</a:t>
            </a:r>
            <a:r>
              <a:rPr sz="2300" b="1" spc="-5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and</a:t>
            </a:r>
            <a:r>
              <a:rPr sz="2300" b="1" spc="-45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FAISS</a:t>
            </a:r>
            <a:r>
              <a:rPr sz="2300" b="1" spc="-25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to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retrieve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relevant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knowledge </a:t>
            </a:r>
            <a:r>
              <a:rPr sz="2300" dirty="0">
                <a:latin typeface="Arial MT"/>
                <a:cs typeface="Arial MT"/>
              </a:rPr>
              <a:t>from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support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documents.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300">
              <a:latin typeface="Arial MT"/>
              <a:cs typeface="Arial MT"/>
            </a:endParaRPr>
          </a:p>
          <a:p>
            <a:pPr marL="113030" indent="-111125">
              <a:lnSpc>
                <a:spcPct val="100000"/>
              </a:lnSpc>
              <a:buSzPct val="95652"/>
              <a:buFont typeface="Arial MT"/>
              <a:buChar char="•"/>
              <a:tabLst>
                <a:tab pos="113030" algn="l"/>
              </a:tabLst>
            </a:pPr>
            <a:r>
              <a:rPr sz="2300" b="1" dirty="0">
                <a:latin typeface="Arial"/>
                <a:cs typeface="Arial"/>
              </a:rPr>
              <a:t>Generate</a:t>
            </a:r>
            <a:r>
              <a:rPr sz="2300" b="1" spc="-35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accurate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context-aware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responses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using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retrieved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information.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300">
              <a:latin typeface="Arial MT"/>
              <a:cs typeface="Arial MT"/>
            </a:endParaRPr>
          </a:p>
          <a:p>
            <a:pPr marL="12700" marR="644525" indent="-10795">
              <a:lnSpc>
                <a:spcPct val="100000"/>
              </a:lnSpc>
              <a:buSzPct val="95652"/>
              <a:buFont typeface="Arial MT"/>
              <a:buChar char="•"/>
              <a:tabLst>
                <a:tab pos="113030" algn="l"/>
              </a:tabLst>
            </a:pPr>
            <a:r>
              <a:rPr sz="2300" b="1" dirty="0">
                <a:latin typeface="Arial"/>
                <a:cs typeface="Arial"/>
              </a:rPr>
              <a:t>	Improve</a:t>
            </a:r>
            <a:r>
              <a:rPr sz="2300" b="1" spc="-3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reliability</a:t>
            </a:r>
            <a:r>
              <a:rPr sz="2300" b="1" spc="-3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and</a:t>
            </a:r>
            <a:r>
              <a:rPr sz="2300" b="1" spc="-4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transparency</a:t>
            </a:r>
            <a:r>
              <a:rPr sz="2300" b="1" spc="-45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through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b="1" dirty="0">
                <a:latin typeface="Arial"/>
                <a:cs typeface="Arial"/>
              </a:rPr>
              <a:t>source</a:t>
            </a:r>
            <a:r>
              <a:rPr sz="2300" b="1" spc="-4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attribution</a:t>
            </a:r>
            <a:r>
              <a:rPr sz="2300" b="1" spc="-5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and</a:t>
            </a:r>
            <a:r>
              <a:rPr sz="2300" b="1" spc="-35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confidence estimation</a:t>
            </a:r>
            <a:r>
              <a:rPr sz="2300" spc="-10" dirty="0">
                <a:latin typeface="Arial MT"/>
                <a:cs typeface="Arial MT"/>
              </a:rPr>
              <a:t>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300">
              <a:latin typeface="Arial MT"/>
              <a:cs typeface="Arial MT"/>
            </a:endParaRPr>
          </a:p>
          <a:p>
            <a:pPr marL="12700" marR="1452880" indent="-10795">
              <a:lnSpc>
                <a:spcPct val="100000"/>
              </a:lnSpc>
              <a:buSzPct val="95652"/>
              <a:buFont typeface="Arial MT"/>
              <a:buChar char="•"/>
              <a:tabLst>
                <a:tab pos="113030" algn="l"/>
              </a:tabLst>
            </a:pPr>
            <a:r>
              <a:rPr sz="2300" b="1" dirty="0">
                <a:latin typeface="Arial"/>
                <a:cs typeface="Arial"/>
              </a:rPr>
              <a:t>	Support</a:t>
            </a:r>
            <a:r>
              <a:rPr sz="2300" b="1" spc="-3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multi-turn</a:t>
            </a:r>
            <a:r>
              <a:rPr sz="2300" b="1" spc="-2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conversations</a:t>
            </a:r>
            <a:r>
              <a:rPr sz="2300" b="1" spc="-45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using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conversation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history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contextual understanding.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542" rIns="0" bIns="0" rtlCol="0">
            <a:spAutoFit/>
          </a:bodyPr>
          <a:lstStyle/>
          <a:p>
            <a:pPr marL="1757045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Literature</a:t>
            </a:r>
            <a:r>
              <a:rPr sz="4000" spc="-170" dirty="0"/>
              <a:t> </a:t>
            </a:r>
            <a:r>
              <a:rPr sz="4000" spc="-10" dirty="0"/>
              <a:t>Survey</a:t>
            </a:r>
            <a:endParaRPr sz="4000"/>
          </a:p>
        </p:txBody>
      </p:sp>
      <p:pic>
        <p:nvPicPr>
          <p:cNvPr id="3" name="object 3" descr="KL University - KL University added a ..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165" y="186689"/>
            <a:ext cx="838200" cy="841247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4602" y="1283716"/>
          <a:ext cx="11211559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4540"/>
                <a:gridCol w="1955800"/>
                <a:gridCol w="994410"/>
                <a:gridCol w="2449829"/>
                <a:gridCol w="1934210"/>
                <a:gridCol w="2590800"/>
                <a:gridCol w="521970"/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S.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No.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Research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Paper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Year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Technology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Contribution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17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Relevance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Project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Link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4602" y="1778507"/>
          <a:ext cx="11981180" cy="4864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095"/>
                <a:gridCol w="2349500"/>
                <a:gridCol w="688340"/>
                <a:gridCol w="2076450"/>
                <a:gridCol w="2534285"/>
                <a:gridCol w="2209800"/>
                <a:gridCol w="1743710"/>
              </a:tblGrid>
              <a:tr h="2294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140" marR="12573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Retrieval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Enhancements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RAG: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Insights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Deployed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Customer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Chatbot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—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Daniel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González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Juclà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al.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9525" algn="ctr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1285" marR="1663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RAG,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embeddings,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chunking,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RRF,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LLM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reranking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171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Studies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retrieval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73990" marR="20256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improvements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real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deployed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customer-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chatbot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shows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better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retrieval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improves downstream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response quality.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7635" marR="120014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Directly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supports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our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embedding,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chunking,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FAISS retrieval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Top-K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document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selection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sz="1800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ACL</a:t>
                      </a:r>
                      <a:r>
                        <a:rPr sz="1800" u="sng" spc="-4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 </a:t>
                      </a:r>
                      <a:r>
                        <a:rPr sz="1800" u="sng" spc="-1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Anthology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2569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1140" marR="96520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Retrieval-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Augmented Generation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with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18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Graphs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Customer</a:t>
                      </a:r>
                      <a:r>
                        <a:rPr sz="18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Service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Question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Answering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311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—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Zhentao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Xu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al.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74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9525" algn="ctr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RAG,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LLM,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21285" marR="24130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Graph,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semantic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retrieval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990" marR="120014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structured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from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historical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customer-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issues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to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improve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retrieval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question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answering;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reports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improved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retrieval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generation performance.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 marL="127635" marR="109220"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Supports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our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customer-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QA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knowledge retrieval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approach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provides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possible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future Knowledge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Graph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extension.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60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sz="1800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Research</a:t>
                      </a:r>
                      <a:r>
                        <a:rPr sz="1800" u="sng" spc="-85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 </a:t>
                      </a:r>
                      <a:r>
                        <a:rPr sz="1800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Paper</a:t>
                      </a:r>
                      <a:r>
                        <a:rPr sz="1800" u="sng" spc="-9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 </a:t>
                      </a:r>
                      <a:r>
                        <a:rPr sz="1800" u="sng" spc="-5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–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542" rIns="0" bIns="0" rtlCol="0">
            <a:spAutoFit/>
          </a:bodyPr>
          <a:lstStyle/>
          <a:p>
            <a:pPr marL="1757045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Literature</a:t>
            </a:r>
            <a:r>
              <a:rPr sz="4000" spc="-170" dirty="0"/>
              <a:t> </a:t>
            </a:r>
            <a:r>
              <a:rPr sz="4000" spc="-10" dirty="0"/>
              <a:t>Survey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4602" y="2064257"/>
          <a:ext cx="10419713" cy="2697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/>
                <a:gridCol w="2176780"/>
                <a:gridCol w="819150"/>
                <a:gridCol w="2244725"/>
                <a:gridCol w="1659889"/>
                <a:gridCol w="3014979"/>
              </a:tblGrid>
              <a:tr h="2697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6235" marR="124460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Supporting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Human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Operators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Customer Service Interactions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with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Agentic-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RAG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—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Juan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Barrionuevo-Valenzuela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al.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1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3520" marR="13589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Agentic-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RAG,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retrieval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validation,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summarization,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LLM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71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RAG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43510" marR="8826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assist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human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customer-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service operators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relevant information,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summaries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suggested responses.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885" marR="2413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Directly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supports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proposed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human-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agent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escalation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conversation-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context</a:t>
                      </a:r>
                      <a:r>
                        <a:rPr sz="1800" b="1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features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pic>
        <p:nvPicPr>
          <p:cNvPr id="4" name="object 4" descr="KL University - KL University added a ..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165" y="186689"/>
            <a:ext cx="838200" cy="841247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4602" y="1283716"/>
          <a:ext cx="11211559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4540"/>
                <a:gridCol w="1955800"/>
                <a:gridCol w="994410"/>
                <a:gridCol w="2449829"/>
                <a:gridCol w="1934210"/>
                <a:gridCol w="2590800"/>
                <a:gridCol w="521970"/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S.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No.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Research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Paper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Year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Technology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7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Contribution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17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Relevance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Project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17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Link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024869" y="3090417"/>
            <a:ext cx="977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ACL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Anthology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KL University - KL University added a ..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113" y="140207"/>
            <a:ext cx="838200" cy="8412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239" rIns="0" bIns="0" rtlCol="0">
            <a:spAutoFit/>
          </a:bodyPr>
          <a:lstStyle/>
          <a:p>
            <a:pPr marL="5435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Research</a:t>
            </a:r>
            <a:r>
              <a:rPr spc="-125" dirty="0"/>
              <a:t> </a:t>
            </a:r>
            <a:r>
              <a:rPr dirty="0"/>
              <a:t>Gap</a:t>
            </a:r>
            <a:r>
              <a:rPr spc="-120" dirty="0"/>
              <a:t> </a:t>
            </a:r>
            <a:r>
              <a:rPr spc="-10" dirty="0"/>
              <a:t>Identification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1320" y="1293050"/>
          <a:ext cx="11511280" cy="5399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6865"/>
                <a:gridCol w="2882900"/>
                <a:gridCol w="2892425"/>
                <a:gridCol w="2879090"/>
              </a:tblGrid>
              <a:tr h="27305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Paper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3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Paper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Addresses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13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Identified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Gap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Limitation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13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How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Addresses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Gap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1664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0" marR="6096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Juclà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(2026)</a:t>
                      </a:r>
                      <a:r>
                        <a:rPr sz="14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—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10" dirty="0">
                          <a:latin typeface="Calibri"/>
                          <a:cs typeface="Calibri"/>
                        </a:rPr>
                        <a:t>Retrieval Enhancements</a:t>
                      </a:r>
                      <a:r>
                        <a:rPr sz="14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i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RAG:</a:t>
                      </a:r>
                      <a:r>
                        <a:rPr sz="14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Insights</a:t>
                      </a:r>
                      <a:r>
                        <a:rPr sz="14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2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i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10" dirty="0">
                          <a:latin typeface="Calibri"/>
                          <a:cs typeface="Calibri"/>
                        </a:rPr>
                        <a:t>Deployed</a:t>
                      </a:r>
                      <a:r>
                        <a:rPr sz="14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Customer</a:t>
                      </a:r>
                      <a:r>
                        <a:rPr sz="14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4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10" dirty="0">
                          <a:latin typeface="Calibri"/>
                          <a:cs typeface="Calibri"/>
                        </a:rPr>
                        <a:t>Chatbot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8580" marR="12255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Focuses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mainly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improving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RAG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retrieval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quality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embedding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comparison,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chunking,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RRF,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LLM-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reranking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deployed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customer-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chatbot.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80010" marR="774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study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primarily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focuses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on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retrieval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optimization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.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scope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integrate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retrieval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broader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customer-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system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involving conversational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context,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explainability, confidence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estimation,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intelligent escalation.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1280" marR="11303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combines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semantic retrieval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LLM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response generation,</a:t>
                      </a:r>
                      <a:r>
                        <a:rPr sz="14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multi-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turn</a:t>
                      </a:r>
                      <a:r>
                        <a:rPr sz="14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conversation,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source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attribution,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confidence estimation.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690" marB="0"/>
                </a:tc>
              </a:tr>
              <a:tr h="1892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0" marR="49720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Xu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(2024)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—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10" dirty="0">
                          <a:latin typeface="Calibri"/>
                          <a:cs typeface="Calibri"/>
                        </a:rPr>
                        <a:t>Retrieval-Augmented</a:t>
                      </a:r>
                      <a:r>
                        <a:rPr sz="14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Generation</a:t>
                      </a:r>
                      <a:r>
                        <a:rPr sz="1400" i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1400" i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Graphs</a:t>
                      </a:r>
                      <a:r>
                        <a:rPr sz="14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i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10" dirty="0">
                          <a:latin typeface="Calibri"/>
                          <a:cs typeface="Calibri"/>
                        </a:rPr>
                        <a:t>Customer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4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10" dirty="0">
                          <a:latin typeface="Calibri"/>
                          <a:cs typeface="Calibri"/>
                        </a:rPr>
                        <a:t>Question</a:t>
                      </a:r>
                      <a:r>
                        <a:rPr sz="14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10" dirty="0">
                          <a:latin typeface="Calibri"/>
                          <a:cs typeface="Calibri"/>
                        </a:rPr>
                        <a:t>Answering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8580" marR="18986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RAG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Graphs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preserve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relationships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within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historical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customer-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service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issues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improve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retrieval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and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answer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generation.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1610" marB="0"/>
                </a:tc>
                <a:tc>
                  <a:txBody>
                    <a:bodyPr/>
                    <a:lstStyle/>
                    <a:p>
                      <a:pPr marL="80010" marR="10858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approach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relies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knowledge-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graph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construction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historical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issue</a:t>
                      </a:r>
                      <a:r>
                        <a:rPr sz="1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tickets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adds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structural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complexity.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scope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more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lightweight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document-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RAG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architecture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suitable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broader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customer-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such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FAQs,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manuals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policies.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1280" marR="55244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FAISS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retrieve relevant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diverse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documents,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followed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LLM-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response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generation.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1569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0" marR="29527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Barrionuevo-Valenzuela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al.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(2026)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—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Supporting</a:t>
                      </a:r>
                      <a:r>
                        <a:rPr sz="1400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10" dirty="0">
                          <a:latin typeface="Calibri"/>
                          <a:cs typeface="Calibri"/>
                        </a:rPr>
                        <a:t>Human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Operators</a:t>
                      </a:r>
                      <a:r>
                        <a:rPr sz="1400" i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400" i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Customer</a:t>
                      </a:r>
                      <a:r>
                        <a:rPr sz="1400" i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10" dirty="0">
                          <a:latin typeface="Calibri"/>
                          <a:cs typeface="Calibri"/>
                        </a:rPr>
                        <a:t>Service Interactions</a:t>
                      </a:r>
                      <a:r>
                        <a:rPr sz="1400" i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20" dirty="0">
                          <a:latin typeface="Calibri"/>
                          <a:cs typeface="Calibri"/>
                        </a:rPr>
                        <a:t>Agentic-</a:t>
                      </a:r>
                      <a:r>
                        <a:rPr sz="1400" i="1" spc="-25" dirty="0">
                          <a:latin typeface="Calibri"/>
                          <a:cs typeface="Calibri"/>
                        </a:rPr>
                        <a:t>RAG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1610" marB="0"/>
                </a:tc>
                <a:tc>
                  <a:txBody>
                    <a:bodyPr/>
                    <a:lstStyle/>
                    <a:p>
                      <a:pPr marL="68580" marR="7239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Develops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Agentic-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RAG copilot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that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human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operators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through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summaries,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relevant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and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suggested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responses,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agents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routing,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retrieval validation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response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generation.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2720" marB="0"/>
                </a:tc>
                <a:tc>
                  <a:txBody>
                    <a:bodyPr/>
                    <a:lstStyle/>
                    <a:p>
                      <a:pPr marL="80010" marR="7366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focus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supporting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human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operators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call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centers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rather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providing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complete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self-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chatbot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user-facing explainability,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confidence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information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broader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knowledge-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base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interaction.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865" marB="0"/>
                </a:tc>
                <a:tc>
                  <a:txBody>
                    <a:bodyPr/>
                    <a:lstStyle/>
                    <a:p>
                      <a:pPr marL="81280" marR="2413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focuses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direct customer-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facing</a:t>
                      </a:r>
                      <a:r>
                        <a:rPr sz="1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chatbot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while retaining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human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escalation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unresolved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low-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confidence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queries.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proposes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source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attribution,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confidence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estimation</a:t>
                      </a:r>
                      <a:r>
                        <a:rPr sz="14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multi-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turn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conversation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865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24070" y="120142"/>
            <a:ext cx="2362200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Innovation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7954" y="1488440"/>
            <a:ext cx="10791825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30" indent="-8255">
              <a:lnSpc>
                <a:spcPct val="100000"/>
              </a:lnSpc>
              <a:spcBef>
                <a:spcPts val="10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spc="-25" dirty="0">
                <a:latin typeface="Arial"/>
                <a:cs typeface="Arial"/>
              </a:rPr>
              <a:t>	RAG-</a:t>
            </a:r>
            <a:r>
              <a:rPr sz="2400" b="1" dirty="0">
                <a:latin typeface="Arial"/>
                <a:cs typeface="Arial"/>
              </a:rPr>
              <a:t>Based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Knowledge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Retrieval: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Retrieves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relevant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FAQs, </a:t>
            </a:r>
            <a:r>
              <a:rPr sz="2400" dirty="0">
                <a:latin typeface="Arial MT"/>
                <a:cs typeface="Arial MT"/>
              </a:rPr>
              <a:t>manuals,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policies,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support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documents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before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responses.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 marR="92329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spc="-10" dirty="0">
                <a:latin typeface="Arial"/>
                <a:cs typeface="Arial"/>
              </a:rPr>
              <a:t>	LLM-</a:t>
            </a:r>
            <a:r>
              <a:rPr sz="2400" b="1" dirty="0">
                <a:latin typeface="Arial"/>
                <a:cs typeface="Arial"/>
              </a:rPr>
              <a:t>Powered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Responses: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Uses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LLM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Gemini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Llama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generate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natural,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accurate,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context-</a:t>
            </a:r>
            <a:r>
              <a:rPr sz="2400" dirty="0">
                <a:latin typeface="Arial MT"/>
                <a:cs typeface="Arial MT"/>
              </a:rPr>
              <a:t>aware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answers.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 marR="508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Semantic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Search: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Uses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embeddings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FAISS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vector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search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understand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customer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queries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rather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relying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keywords.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 marR="895985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Explainable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Responses: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source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attribution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confidence </a:t>
            </a:r>
            <a:r>
              <a:rPr sz="2400" b="1" dirty="0">
                <a:latin typeface="Arial"/>
                <a:cs typeface="Arial"/>
              </a:rPr>
              <a:t>estimation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understand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trust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answers.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Contact Bachupally-Bowrampet, Hyderabad Campus - KLH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95" y="134999"/>
            <a:ext cx="2036108" cy="764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1289" rIns="0" bIns="0" rtlCol="0">
            <a:spAutoFit/>
          </a:bodyPr>
          <a:lstStyle/>
          <a:p>
            <a:pPr marL="254571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/>
                <a:cs typeface="Times New Roman"/>
              </a:rPr>
              <a:t>Novelty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872" y="2212085"/>
            <a:ext cx="1081659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3670" indent="-8255">
              <a:lnSpc>
                <a:spcPct val="100000"/>
              </a:lnSpc>
              <a:spcBef>
                <a:spcPts val="10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Unified</a:t>
            </a:r>
            <a:r>
              <a:rPr sz="2400" b="1" spc="-1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AI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Customer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Support: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Integrates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RAG,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LLM,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semantic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search,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and </a:t>
            </a:r>
            <a:r>
              <a:rPr sz="2400" b="1" spc="-10" dirty="0">
                <a:latin typeface="Arial"/>
                <a:cs typeface="Arial"/>
              </a:rPr>
              <a:t>conversational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AI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platform.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 marR="35052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spc="-10" dirty="0">
                <a:latin typeface="Arial"/>
                <a:cs typeface="Arial"/>
              </a:rPr>
              <a:t>	Knowledge-</a:t>
            </a:r>
            <a:r>
              <a:rPr sz="2400" b="1" dirty="0">
                <a:latin typeface="Arial"/>
                <a:cs typeface="Arial"/>
              </a:rPr>
              <a:t>Grounded</a:t>
            </a:r>
            <a:r>
              <a:rPr sz="2400" b="1" spc="-1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Answers: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Generates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responses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retrieved </a:t>
            </a:r>
            <a:r>
              <a:rPr sz="2400" b="1" dirty="0">
                <a:latin typeface="Arial"/>
                <a:cs typeface="Arial"/>
              </a:rPr>
              <a:t>organizational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knowledge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unsupported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answers.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Explainable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Responses: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confidence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information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answer.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Contact Bachupally-Bowrampet, Hyderabad Campus - KLH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95" y="134999"/>
            <a:ext cx="2036108" cy="764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6633" rIns="0" bIns="0" rtlCol="0">
            <a:spAutoFit/>
          </a:bodyPr>
          <a:lstStyle/>
          <a:p>
            <a:pPr marL="23729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Creativity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7954" y="2030984"/>
            <a:ext cx="1099058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880" indent="-8255">
              <a:lnSpc>
                <a:spcPct val="100000"/>
              </a:lnSpc>
              <a:spcBef>
                <a:spcPts val="10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Natural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Conversational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Interaction:</a:t>
            </a:r>
            <a:r>
              <a:rPr sz="2400" b="1" spc="-1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Allows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customers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their </a:t>
            </a:r>
            <a:r>
              <a:rPr sz="2400" dirty="0">
                <a:latin typeface="Arial MT"/>
                <a:cs typeface="Arial MT"/>
              </a:rPr>
              <a:t>own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instead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predefined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options.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 marR="508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spc="-25" dirty="0">
                <a:latin typeface="Arial"/>
                <a:cs typeface="Arial"/>
              </a:rPr>
              <a:t>	Context-</a:t>
            </a:r>
            <a:r>
              <a:rPr sz="2400" b="1" dirty="0">
                <a:latin typeface="Arial"/>
                <a:cs typeface="Arial"/>
              </a:rPr>
              <a:t>Aware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Conversations: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Uses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previous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messages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understand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follow-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maintain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conversation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flow.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 marR="883919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spc="-10" dirty="0">
                <a:latin typeface="Arial"/>
                <a:cs typeface="Arial"/>
              </a:rPr>
              <a:t>	Conversation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Summarization: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Summarizes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previous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interactions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help </a:t>
            </a:r>
            <a:r>
              <a:rPr sz="2400" dirty="0">
                <a:latin typeface="Arial MT"/>
                <a:cs typeface="Arial MT"/>
              </a:rPr>
              <a:t>maintain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context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support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efficient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human-</a:t>
            </a:r>
            <a:r>
              <a:rPr sz="2400" dirty="0">
                <a:latin typeface="Arial MT"/>
                <a:cs typeface="Arial MT"/>
              </a:rPr>
              <a:t>agent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handover.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Contact Bachupally-Bowrampet, Hyderabad Campus - KLH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95" y="134999"/>
            <a:ext cx="2036108" cy="764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6633" rIns="0" bIns="0" rtlCol="0">
            <a:spAutoFit/>
          </a:bodyPr>
          <a:lstStyle/>
          <a:p>
            <a:pPr marL="23729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" marR="352425" indent="-8255">
              <a:lnSpc>
                <a:spcPct val="100000"/>
              </a:lnSpc>
              <a:spcBef>
                <a:spcPts val="95"/>
              </a:spcBef>
              <a:buSzPct val="95000"/>
              <a:buFont typeface="Arial MT"/>
              <a:buChar char="•"/>
              <a:tabLst>
                <a:tab pos="134620" algn="l"/>
              </a:tabLst>
            </a:pPr>
            <a:r>
              <a:rPr b="1" spc="-10" dirty="0">
                <a:latin typeface="Arial"/>
                <a:cs typeface="Arial"/>
              </a:rPr>
              <a:t>	Technical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Feasibility:</a:t>
            </a:r>
            <a:r>
              <a:rPr b="1" spc="-105" dirty="0">
                <a:latin typeface="Arial"/>
                <a:cs typeface="Arial"/>
              </a:rPr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system</a:t>
            </a:r>
            <a:r>
              <a:rPr spc="-80" dirty="0"/>
              <a:t> </a:t>
            </a:r>
            <a:r>
              <a:rPr dirty="0"/>
              <a:t>can</a:t>
            </a:r>
            <a:r>
              <a:rPr spc="-65" dirty="0"/>
              <a:t> </a:t>
            </a:r>
            <a:r>
              <a:rPr dirty="0"/>
              <a:t>be</a:t>
            </a:r>
            <a:r>
              <a:rPr spc="-65" dirty="0"/>
              <a:t> </a:t>
            </a:r>
            <a:r>
              <a:rPr dirty="0"/>
              <a:t>developed</a:t>
            </a:r>
            <a:r>
              <a:rPr spc="-60" dirty="0"/>
              <a:t> </a:t>
            </a:r>
            <a:r>
              <a:rPr dirty="0"/>
              <a:t>using</a:t>
            </a:r>
            <a:r>
              <a:rPr spc="-55" dirty="0"/>
              <a:t> </a:t>
            </a:r>
            <a:r>
              <a:rPr dirty="0"/>
              <a:t>existing</a:t>
            </a:r>
            <a:r>
              <a:rPr spc="-65" dirty="0"/>
              <a:t> </a:t>
            </a:r>
            <a:r>
              <a:rPr dirty="0"/>
              <a:t>technologies</a:t>
            </a:r>
            <a:r>
              <a:rPr spc="-55" dirty="0"/>
              <a:t> </a:t>
            </a:r>
            <a:r>
              <a:rPr dirty="0"/>
              <a:t>such</a:t>
            </a:r>
            <a:r>
              <a:rPr spc="-65" dirty="0"/>
              <a:t> </a:t>
            </a:r>
            <a:r>
              <a:rPr dirty="0"/>
              <a:t>as</a:t>
            </a:r>
            <a:r>
              <a:rPr spc="-60" dirty="0"/>
              <a:t> </a:t>
            </a:r>
            <a:r>
              <a:rPr spc="-10" dirty="0"/>
              <a:t>React, </a:t>
            </a:r>
            <a:r>
              <a:rPr dirty="0"/>
              <a:t>FastAPI,</a:t>
            </a:r>
            <a:r>
              <a:rPr spc="-70" dirty="0"/>
              <a:t> </a:t>
            </a:r>
            <a:r>
              <a:rPr spc="-10" dirty="0"/>
              <a:t>embeddings,</a:t>
            </a:r>
            <a:r>
              <a:rPr spc="-45" dirty="0"/>
              <a:t> </a:t>
            </a:r>
            <a:r>
              <a:rPr dirty="0"/>
              <a:t>FAISS,</a:t>
            </a:r>
            <a:r>
              <a:rPr spc="-5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LLMs</a:t>
            </a:r>
            <a:r>
              <a:rPr spc="-60" dirty="0"/>
              <a:t> </a:t>
            </a:r>
            <a:r>
              <a:rPr dirty="0"/>
              <a:t>such</a:t>
            </a:r>
            <a:r>
              <a:rPr spc="-60" dirty="0"/>
              <a:t> </a:t>
            </a:r>
            <a:r>
              <a:rPr dirty="0"/>
              <a:t>as</a:t>
            </a:r>
            <a:r>
              <a:rPr spc="-60" dirty="0"/>
              <a:t> </a:t>
            </a:r>
            <a:r>
              <a:rPr dirty="0"/>
              <a:t>Gemini</a:t>
            </a:r>
            <a:r>
              <a:rPr spc="-60" dirty="0"/>
              <a:t> </a:t>
            </a:r>
            <a:r>
              <a:rPr dirty="0"/>
              <a:t>or</a:t>
            </a:r>
            <a:r>
              <a:rPr spc="-70" dirty="0"/>
              <a:t> </a:t>
            </a:r>
            <a:r>
              <a:rPr dirty="0"/>
              <a:t>Llama</a:t>
            </a:r>
            <a:r>
              <a:rPr spc="-60" dirty="0"/>
              <a:t> </a:t>
            </a:r>
            <a:r>
              <a:rPr spc="-25" dirty="0"/>
              <a:t>3.</a:t>
            </a:r>
          </a:p>
          <a:p>
            <a:pPr marL="33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pc="-25" dirty="0"/>
          </a:p>
          <a:p>
            <a:pPr marL="45720" marR="94615" indent="-8255">
              <a:lnSpc>
                <a:spcPct val="100000"/>
              </a:lnSpc>
              <a:buSzPct val="95000"/>
              <a:buFont typeface="Arial MT"/>
              <a:buChar char="•"/>
              <a:tabLst>
                <a:tab pos="134620" algn="l"/>
              </a:tabLst>
            </a:pPr>
            <a:r>
              <a:rPr b="1" dirty="0">
                <a:latin typeface="Arial"/>
                <a:cs typeface="Arial"/>
              </a:rPr>
              <a:t>	Data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Feasibility:</a:t>
            </a:r>
            <a:r>
              <a:rPr b="1" spc="-105" dirty="0">
                <a:latin typeface="Arial"/>
                <a:cs typeface="Arial"/>
              </a:rPr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chatbot</a:t>
            </a:r>
            <a:r>
              <a:rPr spc="-65" dirty="0"/>
              <a:t> </a:t>
            </a:r>
            <a:r>
              <a:rPr dirty="0"/>
              <a:t>can</a:t>
            </a:r>
            <a:r>
              <a:rPr spc="-55" dirty="0"/>
              <a:t> </a:t>
            </a:r>
            <a:r>
              <a:rPr dirty="0"/>
              <a:t>use</a:t>
            </a:r>
            <a:r>
              <a:rPr spc="-60" dirty="0"/>
              <a:t> </a:t>
            </a:r>
            <a:r>
              <a:rPr dirty="0"/>
              <a:t>available</a:t>
            </a:r>
            <a:r>
              <a:rPr spc="-35" dirty="0"/>
              <a:t> </a:t>
            </a:r>
            <a:r>
              <a:rPr dirty="0"/>
              <a:t>FAQs,</a:t>
            </a:r>
            <a:r>
              <a:rPr spc="-55" dirty="0"/>
              <a:t> </a:t>
            </a:r>
            <a:r>
              <a:rPr dirty="0"/>
              <a:t>product</a:t>
            </a:r>
            <a:r>
              <a:rPr spc="-55" dirty="0"/>
              <a:t> </a:t>
            </a:r>
            <a:r>
              <a:rPr dirty="0"/>
              <a:t>manuals,</a:t>
            </a:r>
            <a:r>
              <a:rPr spc="-55" dirty="0"/>
              <a:t> </a:t>
            </a:r>
            <a:r>
              <a:rPr dirty="0"/>
              <a:t>user</a:t>
            </a:r>
            <a:r>
              <a:rPr spc="-60" dirty="0"/>
              <a:t> </a:t>
            </a:r>
            <a:r>
              <a:rPr dirty="0"/>
              <a:t>guides,</a:t>
            </a:r>
            <a:r>
              <a:rPr spc="-55" dirty="0"/>
              <a:t> </a:t>
            </a:r>
            <a:r>
              <a:rPr dirty="0"/>
              <a:t>policies,</a:t>
            </a:r>
            <a:r>
              <a:rPr spc="-45" dirty="0"/>
              <a:t> </a:t>
            </a:r>
            <a:r>
              <a:rPr spc="-25" dirty="0"/>
              <a:t>and </a:t>
            </a:r>
            <a:r>
              <a:rPr spc="-10" dirty="0"/>
              <a:t>customer-</a:t>
            </a:r>
            <a:r>
              <a:rPr dirty="0"/>
              <a:t>support</a:t>
            </a:r>
            <a:r>
              <a:rPr spc="-60" dirty="0"/>
              <a:t> </a:t>
            </a:r>
            <a:r>
              <a:rPr dirty="0"/>
              <a:t>knowledge</a:t>
            </a:r>
            <a:r>
              <a:rPr spc="-20" dirty="0"/>
              <a:t> </a:t>
            </a:r>
            <a:r>
              <a:rPr dirty="0"/>
              <a:t>bases</a:t>
            </a:r>
            <a:r>
              <a:rPr spc="-70" dirty="0"/>
              <a:t> </a:t>
            </a:r>
            <a:r>
              <a:rPr dirty="0"/>
              <a:t>as</a:t>
            </a:r>
            <a:r>
              <a:rPr spc="-40" dirty="0"/>
              <a:t> </a:t>
            </a:r>
            <a:r>
              <a:rPr dirty="0"/>
              <a:t>its</a:t>
            </a:r>
            <a:r>
              <a:rPr spc="-50" dirty="0"/>
              <a:t> </a:t>
            </a:r>
            <a:r>
              <a:rPr dirty="0"/>
              <a:t>knowledge</a:t>
            </a:r>
            <a:r>
              <a:rPr spc="-30" dirty="0"/>
              <a:t> </a:t>
            </a:r>
            <a:r>
              <a:rPr spc="-10" dirty="0"/>
              <a:t>source.</a:t>
            </a:r>
          </a:p>
          <a:p>
            <a:pPr marL="33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pc="-10" dirty="0"/>
          </a:p>
          <a:p>
            <a:pPr marL="45720" marR="505459" indent="-8255">
              <a:lnSpc>
                <a:spcPct val="100000"/>
              </a:lnSpc>
              <a:buSzPct val="95000"/>
              <a:buFont typeface="Arial MT"/>
              <a:buChar char="•"/>
              <a:tabLst>
                <a:tab pos="134620" algn="l"/>
              </a:tabLst>
            </a:pPr>
            <a:r>
              <a:rPr b="1" dirty="0">
                <a:latin typeface="Arial"/>
                <a:cs typeface="Arial"/>
              </a:rPr>
              <a:t>	Implementation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Feasibility: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dirty="0"/>
              <a:t>RAG</a:t>
            </a:r>
            <a:r>
              <a:rPr spc="-40" dirty="0"/>
              <a:t> </a:t>
            </a:r>
            <a:r>
              <a:rPr dirty="0"/>
              <a:t>allows</a:t>
            </a:r>
            <a:r>
              <a:rPr spc="-2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system</a:t>
            </a:r>
            <a:r>
              <a:rPr spc="-5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use</a:t>
            </a:r>
            <a:r>
              <a:rPr spc="-40" dirty="0"/>
              <a:t> </a:t>
            </a:r>
            <a:r>
              <a:rPr dirty="0"/>
              <a:t>existing</a:t>
            </a:r>
            <a:r>
              <a:rPr spc="-45" dirty="0"/>
              <a:t> </a:t>
            </a:r>
            <a:r>
              <a:rPr dirty="0"/>
              <a:t>LLMs</a:t>
            </a:r>
            <a:r>
              <a:rPr spc="-40" dirty="0"/>
              <a:t> </a:t>
            </a:r>
            <a:r>
              <a:rPr dirty="0"/>
              <a:t>without</a:t>
            </a:r>
            <a:r>
              <a:rPr spc="-40" dirty="0"/>
              <a:t> </a:t>
            </a:r>
            <a:r>
              <a:rPr dirty="0"/>
              <a:t>requiring</a:t>
            </a:r>
            <a:r>
              <a:rPr spc="-40" dirty="0"/>
              <a:t> </a:t>
            </a:r>
            <a:r>
              <a:rPr spc="-25" dirty="0"/>
              <a:t>the </a:t>
            </a:r>
            <a:r>
              <a:rPr dirty="0"/>
              <a:t>development</a:t>
            </a:r>
            <a:r>
              <a:rPr spc="-55" dirty="0"/>
              <a:t> </a:t>
            </a:r>
            <a:r>
              <a:rPr dirty="0"/>
              <a:t>or</a:t>
            </a:r>
            <a:r>
              <a:rPr spc="-60" dirty="0"/>
              <a:t> </a:t>
            </a:r>
            <a:r>
              <a:rPr dirty="0"/>
              <a:t>training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large</a:t>
            </a:r>
            <a:r>
              <a:rPr spc="-55" dirty="0"/>
              <a:t> </a:t>
            </a:r>
            <a:r>
              <a:rPr dirty="0"/>
              <a:t>language</a:t>
            </a:r>
            <a:r>
              <a:rPr spc="-45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from</a:t>
            </a:r>
            <a:r>
              <a:rPr spc="-75" dirty="0"/>
              <a:t> </a:t>
            </a:r>
            <a:r>
              <a:rPr spc="-10" dirty="0"/>
              <a:t>scratch.</a:t>
            </a:r>
          </a:p>
          <a:p>
            <a:pPr marL="33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pc="-10" dirty="0"/>
          </a:p>
          <a:p>
            <a:pPr marL="45720" marR="320040" indent="-8255">
              <a:lnSpc>
                <a:spcPct val="100000"/>
              </a:lnSpc>
              <a:buSzPct val="95000"/>
              <a:buFont typeface="Arial MT"/>
              <a:buChar char="•"/>
              <a:tabLst>
                <a:tab pos="134620" algn="l"/>
              </a:tabLst>
            </a:pPr>
            <a:r>
              <a:rPr b="1" dirty="0">
                <a:latin typeface="Arial"/>
                <a:cs typeface="Arial"/>
              </a:rPr>
              <a:t>	Scalability:</a:t>
            </a:r>
            <a:r>
              <a:rPr b="1" spc="-114" dirty="0">
                <a:latin typeface="Arial"/>
                <a:cs typeface="Arial"/>
              </a:rPr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knowledge</a:t>
            </a:r>
            <a:r>
              <a:rPr spc="-50" dirty="0"/>
              <a:t> </a:t>
            </a:r>
            <a:r>
              <a:rPr dirty="0"/>
              <a:t>base</a:t>
            </a:r>
            <a:r>
              <a:rPr spc="-70" dirty="0"/>
              <a:t> </a:t>
            </a:r>
            <a:r>
              <a:rPr dirty="0"/>
              <a:t>can</a:t>
            </a:r>
            <a:r>
              <a:rPr spc="-70" dirty="0"/>
              <a:t> </a:t>
            </a:r>
            <a:r>
              <a:rPr dirty="0"/>
              <a:t>be</a:t>
            </a:r>
            <a:r>
              <a:rPr spc="-70" dirty="0"/>
              <a:t> </a:t>
            </a:r>
            <a:r>
              <a:rPr dirty="0"/>
              <a:t>expanded</a:t>
            </a:r>
            <a:r>
              <a:rPr spc="-55" dirty="0"/>
              <a:t> </a:t>
            </a:r>
            <a:r>
              <a:rPr dirty="0"/>
              <a:t>by</a:t>
            </a:r>
            <a:r>
              <a:rPr spc="-75" dirty="0"/>
              <a:t> </a:t>
            </a:r>
            <a:r>
              <a:rPr dirty="0"/>
              <a:t>adding</a:t>
            </a:r>
            <a:r>
              <a:rPr spc="-60" dirty="0"/>
              <a:t> </a:t>
            </a:r>
            <a:r>
              <a:rPr dirty="0"/>
              <a:t>new</a:t>
            </a:r>
            <a:r>
              <a:rPr spc="-70" dirty="0"/>
              <a:t> </a:t>
            </a:r>
            <a:r>
              <a:rPr dirty="0"/>
              <a:t>documents</a:t>
            </a:r>
            <a:r>
              <a:rPr spc="-6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updating</a:t>
            </a:r>
            <a:r>
              <a:rPr spc="-60" dirty="0"/>
              <a:t> </a:t>
            </a:r>
            <a:r>
              <a:rPr spc="-10" dirty="0"/>
              <a:t>their embeddings.</a:t>
            </a:r>
          </a:p>
          <a:p>
            <a:pPr marL="33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pc="-10" dirty="0"/>
          </a:p>
          <a:p>
            <a:pPr marL="45720" marR="5080" indent="-8255">
              <a:lnSpc>
                <a:spcPct val="100000"/>
              </a:lnSpc>
              <a:buSzPct val="95000"/>
              <a:buFont typeface="Arial MT"/>
              <a:buChar char="•"/>
              <a:tabLst>
                <a:tab pos="134620" algn="l"/>
              </a:tabLst>
            </a:pPr>
            <a:r>
              <a:rPr b="1" dirty="0">
                <a:latin typeface="Arial"/>
                <a:cs typeface="Arial"/>
              </a:rPr>
              <a:t>	Evaluation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Feasibility:</a:t>
            </a:r>
            <a:r>
              <a:rPr b="1" spc="-114" dirty="0">
                <a:latin typeface="Arial"/>
                <a:cs typeface="Arial"/>
              </a:rPr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system</a:t>
            </a:r>
            <a:r>
              <a:rPr spc="-80" dirty="0"/>
              <a:t> </a:t>
            </a:r>
            <a:r>
              <a:rPr dirty="0"/>
              <a:t>can</a:t>
            </a:r>
            <a:r>
              <a:rPr spc="-70" dirty="0"/>
              <a:t> </a:t>
            </a:r>
            <a:r>
              <a:rPr dirty="0"/>
              <a:t>be</a:t>
            </a:r>
            <a:r>
              <a:rPr spc="-75" dirty="0"/>
              <a:t> </a:t>
            </a:r>
            <a:r>
              <a:rPr dirty="0"/>
              <a:t>evaluated</a:t>
            </a:r>
            <a:r>
              <a:rPr spc="-6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dirty="0"/>
              <a:t>retrieval</a:t>
            </a:r>
            <a:r>
              <a:rPr spc="-70" dirty="0"/>
              <a:t> </a:t>
            </a:r>
            <a:r>
              <a:rPr spc="-20" dirty="0"/>
              <a:t>accuracy,</a:t>
            </a:r>
            <a:r>
              <a:rPr spc="-80" dirty="0"/>
              <a:t> </a:t>
            </a:r>
            <a:r>
              <a:rPr dirty="0"/>
              <a:t>response</a:t>
            </a:r>
            <a:r>
              <a:rPr spc="-70" dirty="0"/>
              <a:t> </a:t>
            </a:r>
            <a:r>
              <a:rPr spc="-10" dirty="0"/>
              <a:t>relevance, </a:t>
            </a:r>
            <a:r>
              <a:rPr dirty="0"/>
              <a:t>answer</a:t>
            </a:r>
            <a:r>
              <a:rPr spc="-60" dirty="0"/>
              <a:t> </a:t>
            </a:r>
            <a:r>
              <a:rPr dirty="0"/>
              <a:t>correctness,</a:t>
            </a:r>
            <a:r>
              <a:rPr spc="-85" dirty="0"/>
              <a:t> </a:t>
            </a:r>
            <a:r>
              <a:rPr dirty="0"/>
              <a:t>semantic</a:t>
            </a:r>
            <a:r>
              <a:rPr spc="-65" dirty="0"/>
              <a:t> </a:t>
            </a:r>
            <a:r>
              <a:rPr spc="-10" dirty="0"/>
              <a:t>similarity,</a:t>
            </a:r>
            <a:r>
              <a:rPr spc="-65" dirty="0"/>
              <a:t> </a:t>
            </a:r>
            <a:r>
              <a:rPr dirty="0"/>
              <a:t>response</a:t>
            </a:r>
            <a:r>
              <a:rPr spc="-70" dirty="0"/>
              <a:t> </a:t>
            </a:r>
            <a:r>
              <a:rPr spc="-20" dirty="0"/>
              <a:t>latency,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user</a:t>
            </a:r>
            <a:r>
              <a:rPr spc="-75" dirty="0"/>
              <a:t> </a:t>
            </a:r>
            <a:r>
              <a:rPr spc="-10" dirty="0"/>
              <a:t>satisfaction.</a:t>
            </a:r>
          </a:p>
        </p:txBody>
      </p:sp>
      <p:pic>
        <p:nvPicPr>
          <p:cNvPr id="4" name="object 4" descr="Contact Bachupally-Bowrampet, Hyderabad Campus - KLH Universi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95" y="134999"/>
            <a:ext cx="2036108" cy="764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043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170" dirty="0"/>
              <a:t> </a:t>
            </a:r>
            <a:r>
              <a:rPr spc="-20" dirty="0"/>
              <a:t>Plan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787" y="133121"/>
            <a:ext cx="10570210" cy="6318885"/>
            <a:chOff x="128787" y="133121"/>
            <a:chExt cx="10570210" cy="6318885"/>
          </a:xfrm>
        </p:grpSpPr>
        <p:pic>
          <p:nvPicPr>
            <p:cNvPr id="4" name="object 4" descr="Contact Bachupally-Bowrampet, Hyderabad Campus - KLH Universit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787" y="133121"/>
              <a:ext cx="1900418" cy="7139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9205" y="672083"/>
              <a:ext cx="8669273" cy="57797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39537" y="1019936"/>
              <a:ext cx="1849755" cy="262890"/>
            </a:xfrm>
            <a:custGeom>
              <a:avLst/>
              <a:gdLst/>
              <a:ahLst/>
              <a:cxnLst/>
              <a:rect l="l" t="t" r="r" b="b"/>
              <a:pathLst>
                <a:path w="1849754" h="262890">
                  <a:moveTo>
                    <a:pt x="1849374" y="0"/>
                  </a:moveTo>
                  <a:lnTo>
                    <a:pt x="0" y="0"/>
                  </a:lnTo>
                  <a:lnTo>
                    <a:pt x="0" y="262889"/>
                  </a:lnTo>
                  <a:lnTo>
                    <a:pt x="1849374" y="262889"/>
                  </a:lnTo>
                  <a:lnTo>
                    <a:pt x="1849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39537" y="1019936"/>
              <a:ext cx="1849755" cy="262890"/>
            </a:xfrm>
            <a:custGeom>
              <a:avLst/>
              <a:gdLst/>
              <a:ahLst/>
              <a:cxnLst/>
              <a:rect l="l" t="t" r="r" b="b"/>
              <a:pathLst>
                <a:path w="1849754" h="262890">
                  <a:moveTo>
                    <a:pt x="0" y="262889"/>
                  </a:moveTo>
                  <a:lnTo>
                    <a:pt x="1849374" y="262889"/>
                  </a:lnTo>
                  <a:lnTo>
                    <a:pt x="1849374" y="0"/>
                  </a:lnTo>
                  <a:lnTo>
                    <a:pt x="0" y="0"/>
                  </a:lnTo>
                  <a:lnTo>
                    <a:pt x="0" y="262889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0" y="228600"/>
            <a:ext cx="6572885" cy="661720"/>
          </a:xfrm>
        </p:spPr>
        <p:txBody>
          <a:bodyPr/>
          <a:lstStyle/>
          <a:p>
            <a:r>
              <a:rPr lang="en-IN" dirty="0"/>
              <a:t>Proposed 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787" y="133121"/>
            <a:ext cx="7160505" cy="1149705"/>
            <a:chOff x="128787" y="133121"/>
            <a:chExt cx="7160505" cy="1149705"/>
          </a:xfrm>
        </p:grpSpPr>
        <p:pic>
          <p:nvPicPr>
            <p:cNvPr id="4" name="object 4" descr="Contact Bachupally-Bowrampet, Hyderabad Campus - KLH Universit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787" y="133121"/>
              <a:ext cx="1900418" cy="713926"/>
            </a:xfrm>
            <a:prstGeom prst="rect">
              <a:avLst/>
            </a:prstGeom>
          </p:spPr>
        </p:pic>
        <p:sp>
          <p:nvSpPr>
            <p:cNvPr id="5" name="object 6"/>
            <p:cNvSpPr/>
            <p:nvPr/>
          </p:nvSpPr>
          <p:spPr>
            <a:xfrm>
              <a:off x="5439537" y="1019936"/>
              <a:ext cx="1849755" cy="262890"/>
            </a:xfrm>
            <a:custGeom>
              <a:avLst/>
              <a:gdLst/>
              <a:ahLst/>
              <a:cxnLst/>
              <a:rect l="l" t="t" r="r" b="b"/>
              <a:pathLst>
                <a:path w="1849754" h="262890">
                  <a:moveTo>
                    <a:pt x="1849374" y="0"/>
                  </a:moveTo>
                  <a:lnTo>
                    <a:pt x="0" y="0"/>
                  </a:lnTo>
                  <a:lnTo>
                    <a:pt x="0" y="262889"/>
                  </a:lnTo>
                  <a:lnTo>
                    <a:pt x="1849374" y="262889"/>
                  </a:lnTo>
                  <a:lnTo>
                    <a:pt x="1849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/>
            <p:cNvSpPr/>
            <p:nvPr/>
          </p:nvSpPr>
          <p:spPr>
            <a:xfrm>
              <a:off x="5439537" y="1019936"/>
              <a:ext cx="1849755" cy="262890"/>
            </a:xfrm>
            <a:custGeom>
              <a:avLst/>
              <a:gdLst/>
              <a:ahLst/>
              <a:cxnLst/>
              <a:rect l="l" t="t" r="r" b="b"/>
              <a:pathLst>
                <a:path w="1849754" h="262890">
                  <a:moveTo>
                    <a:pt x="0" y="262889"/>
                  </a:moveTo>
                  <a:lnTo>
                    <a:pt x="1849374" y="262889"/>
                  </a:lnTo>
                  <a:lnTo>
                    <a:pt x="1849374" y="0"/>
                  </a:lnTo>
                  <a:lnTo>
                    <a:pt x="0" y="0"/>
                  </a:lnTo>
                  <a:lnTo>
                    <a:pt x="0" y="262889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019936"/>
            <a:ext cx="8420100" cy="5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24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3400" y="1110613"/>
            <a:ext cx="112014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1. Data Preparation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Collect customer-support FAQs → preprocess and clean the text → generate </a:t>
            </a:r>
            <a:r>
              <a:rPr lang="en-US" b="1" dirty="0" smtClean="0"/>
              <a:t>Transformer-based </a:t>
            </a:r>
            <a:r>
              <a:rPr lang="en-US" b="1" dirty="0" err="1" smtClean="0"/>
              <a:t>embeddings</a:t>
            </a:r>
            <a:r>
              <a:rPr lang="en-US" dirty="0" smtClean="0"/>
              <a:t> using </a:t>
            </a:r>
            <a:r>
              <a:rPr lang="en-US" b="1" dirty="0" smtClean="0"/>
              <a:t>all-MiniLM-L6-v2</a:t>
            </a:r>
            <a:r>
              <a:rPr lang="en-US" dirty="0" smtClean="0"/>
              <a:t> → store them in a </a:t>
            </a:r>
            <a:r>
              <a:rPr lang="en-US" b="1" dirty="0" smtClean="0"/>
              <a:t>FAISS vector index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2. Product Selection &amp; Query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Customer selects their </a:t>
            </a:r>
            <a:r>
              <a:rPr lang="en-US" b="1" dirty="0" smtClean="0"/>
              <a:t>purchased product</a:t>
            </a:r>
            <a:r>
              <a:rPr lang="en-US" dirty="0" smtClean="0"/>
              <a:t> and enters a support question.</a:t>
            </a:r>
          </a:p>
          <a:p>
            <a:r>
              <a:rPr lang="en-US" b="1" dirty="0" smtClean="0"/>
              <a:t>3. Product-Aware Retrieval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question is converted into an embedding → relevant product-specific information is filtered and retrieved using </a:t>
            </a:r>
            <a:r>
              <a:rPr lang="en-US" b="1" dirty="0" smtClean="0"/>
              <a:t>FAISS Top-K semantic search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4. Prompt Construction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retrieved FAQ information is combined with the customer's question to create a </a:t>
            </a:r>
            <a:r>
              <a:rPr lang="en-US" b="1" dirty="0" smtClean="0"/>
              <a:t>context-aware prompt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5. Response Generation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prompt is sent to </a:t>
            </a:r>
            <a:r>
              <a:rPr lang="en-US" b="1" dirty="0" smtClean="0"/>
              <a:t>Gemini LLM</a:t>
            </a:r>
            <a:r>
              <a:rPr lang="en-US" dirty="0" smtClean="0"/>
              <a:t>, which generates a natural, knowledge-grounded response.</a:t>
            </a:r>
          </a:p>
          <a:p>
            <a:r>
              <a:rPr lang="en-US" b="1" dirty="0" smtClean="0"/>
              <a:t>6. User Interaction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response and relevant sources are returned through the </a:t>
            </a:r>
            <a:r>
              <a:rPr lang="en-US" b="1" dirty="0" err="1" smtClean="0"/>
              <a:t>FastAPI</a:t>
            </a:r>
            <a:r>
              <a:rPr lang="en-US" b="1" dirty="0" smtClean="0"/>
              <a:t> backend</a:t>
            </a:r>
            <a:r>
              <a:rPr lang="en-US" dirty="0" smtClean="0"/>
              <a:t> and displayed in the </a:t>
            </a:r>
            <a:r>
              <a:rPr lang="en-US" b="1" dirty="0" smtClean="0"/>
              <a:t>React chat interface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Overall Flow</a:t>
            </a:r>
          </a:p>
          <a:p>
            <a:r>
              <a:rPr lang="en-US" b="1" dirty="0" smtClean="0"/>
              <a:t>Customer → Product Selection → Query Embedding → Product-Aware FAISS Retrieval → Context + Prompt → Gemini → Grounded Response → React UI</a:t>
            </a:r>
            <a:endParaRPr lang="en-US" dirty="0"/>
          </a:p>
        </p:txBody>
      </p:sp>
      <p:sp>
        <p:nvSpPr>
          <p:cNvPr id="4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7400" y="228600"/>
            <a:ext cx="7848600" cy="1336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0435">
              <a:lnSpc>
                <a:spcPct val="100000"/>
              </a:lnSpc>
              <a:spcBef>
                <a:spcPts val="100"/>
              </a:spcBef>
            </a:pPr>
            <a:r>
              <a:rPr lang="en-US" spc="-20" dirty="0" smtClean="0"/>
              <a:t>Project Implementation</a:t>
            </a:r>
            <a:br>
              <a:rPr lang="en-US" spc="-20" dirty="0" smtClean="0"/>
            </a:br>
            <a:endParaRPr spc="-20" dirty="0"/>
          </a:p>
        </p:txBody>
      </p:sp>
      <p:grpSp>
        <p:nvGrpSpPr>
          <p:cNvPr id="5" name="object 3"/>
          <p:cNvGrpSpPr/>
          <p:nvPr/>
        </p:nvGrpSpPr>
        <p:grpSpPr>
          <a:xfrm>
            <a:off x="128787" y="133121"/>
            <a:ext cx="7160505" cy="1149705"/>
            <a:chOff x="128787" y="133121"/>
            <a:chExt cx="7160505" cy="1149705"/>
          </a:xfrm>
        </p:grpSpPr>
        <p:pic>
          <p:nvPicPr>
            <p:cNvPr id="6" name="object 4" descr="Contact Bachupally-Bowrampet, Hyderabad Campus - KLH Universit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787" y="133121"/>
              <a:ext cx="1900418" cy="713926"/>
            </a:xfrm>
            <a:prstGeom prst="rect">
              <a:avLst/>
            </a:prstGeom>
          </p:spPr>
        </p:pic>
        <p:sp>
          <p:nvSpPr>
            <p:cNvPr id="8" name="object 6"/>
            <p:cNvSpPr/>
            <p:nvPr/>
          </p:nvSpPr>
          <p:spPr>
            <a:xfrm>
              <a:off x="5439537" y="1019936"/>
              <a:ext cx="1849755" cy="262890"/>
            </a:xfrm>
            <a:custGeom>
              <a:avLst/>
              <a:gdLst/>
              <a:ahLst/>
              <a:cxnLst/>
              <a:rect l="l" t="t" r="r" b="b"/>
              <a:pathLst>
                <a:path w="1849754" h="262890">
                  <a:moveTo>
                    <a:pt x="1849374" y="0"/>
                  </a:moveTo>
                  <a:lnTo>
                    <a:pt x="0" y="0"/>
                  </a:lnTo>
                  <a:lnTo>
                    <a:pt x="0" y="262889"/>
                  </a:lnTo>
                  <a:lnTo>
                    <a:pt x="1849374" y="262889"/>
                  </a:lnTo>
                  <a:lnTo>
                    <a:pt x="1849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/>
            <p:cNvSpPr/>
            <p:nvPr/>
          </p:nvSpPr>
          <p:spPr>
            <a:xfrm>
              <a:off x="5439537" y="1019936"/>
              <a:ext cx="1849755" cy="262890"/>
            </a:xfrm>
            <a:custGeom>
              <a:avLst/>
              <a:gdLst/>
              <a:ahLst/>
              <a:cxnLst/>
              <a:rect l="l" t="t" r="r" b="b"/>
              <a:pathLst>
                <a:path w="1849754" h="262890">
                  <a:moveTo>
                    <a:pt x="0" y="262889"/>
                  </a:moveTo>
                  <a:lnTo>
                    <a:pt x="1849374" y="262889"/>
                  </a:lnTo>
                  <a:lnTo>
                    <a:pt x="1849374" y="0"/>
                  </a:lnTo>
                  <a:lnTo>
                    <a:pt x="0" y="0"/>
                  </a:lnTo>
                  <a:lnTo>
                    <a:pt x="0" y="262889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8364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7200" y="152400"/>
            <a:ext cx="5369306" cy="661720"/>
          </a:xfrm>
        </p:spPr>
        <p:txBody>
          <a:bodyPr/>
          <a:lstStyle/>
          <a:p>
            <a:r>
              <a:rPr lang="en-US" dirty="0" smtClean="0"/>
              <a:t>Frontend Code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6" y="990600"/>
            <a:ext cx="10238832" cy="5439380"/>
          </a:xfrm>
          <a:prstGeom prst="rect">
            <a:avLst/>
          </a:prstGeom>
        </p:spPr>
      </p:pic>
      <p:pic>
        <p:nvPicPr>
          <p:cNvPr id="5" name="object 4" descr="Contact Bachupally-Bowrampet, Hyderabad Campus - KLH University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87" y="133121"/>
            <a:ext cx="1900418" cy="71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360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7200" y="152400"/>
            <a:ext cx="6400800" cy="661720"/>
          </a:xfrm>
        </p:spPr>
        <p:txBody>
          <a:bodyPr/>
          <a:lstStyle/>
          <a:p>
            <a:r>
              <a:rPr lang="en-US" dirty="0" smtClean="0"/>
              <a:t>Backend Code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90600"/>
            <a:ext cx="10285887" cy="5464378"/>
          </a:xfrm>
          <a:prstGeom prst="rect">
            <a:avLst/>
          </a:prstGeom>
        </p:spPr>
      </p:pic>
      <p:pic>
        <p:nvPicPr>
          <p:cNvPr id="4" name="object 4" descr="Contact Bachupally-Bowrampet, Hyderabad Campus - KLH University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87" y="133121"/>
            <a:ext cx="1900418" cy="71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87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0" y="72161"/>
            <a:ext cx="6572885" cy="677108"/>
          </a:xfrm>
        </p:spPr>
        <p:txBody>
          <a:bodyPr/>
          <a:lstStyle/>
          <a:p>
            <a:r>
              <a:rPr lang="en-US" sz="4400" b="1" dirty="0" smtClean="0"/>
              <a:t>OUTPUT  </a:t>
            </a:r>
            <a:endParaRPr lang="en-IN" sz="4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11697714" cy="5296359"/>
          </a:xfrm>
          <a:prstGeom prst="rect">
            <a:avLst/>
          </a:prstGeom>
        </p:spPr>
      </p:pic>
      <p:pic>
        <p:nvPicPr>
          <p:cNvPr id="4" name="object 4" descr="Contact Bachupally-Bowrampet, Hyderabad Campus - KLH University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87" y="133121"/>
            <a:ext cx="1900418" cy="71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7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59224"/>
            <a:ext cx="6572885" cy="661720"/>
          </a:xfrm>
        </p:spPr>
        <p:txBody>
          <a:bodyPr/>
          <a:lstStyle/>
          <a:p>
            <a:r>
              <a:rPr lang="en-US" dirty="0" smtClean="0"/>
              <a:t>Output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03631"/>
            <a:ext cx="11697714" cy="5319221"/>
          </a:xfrm>
          <a:prstGeom prst="rect">
            <a:avLst/>
          </a:prstGeom>
        </p:spPr>
      </p:pic>
      <p:pic>
        <p:nvPicPr>
          <p:cNvPr id="4" name="object 4" descr="Contact Bachupally-Bowrampet, Hyderabad Campus - KLH University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87" y="133121"/>
            <a:ext cx="1900418" cy="71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30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623</Words>
  <Application>Microsoft Office PowerPoint</Application>
  <PresentationFormat>Widescreen</PresentationFormat>
  <Paragraphs>199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MT</vt:lpstr>
      <vt:lpstr>Calibri</vt:lpstr>
      <vt:lpstr>Calibri Light</vt:lpstr>
      <vt:lpstr>Times New Roman</vt:lpstr>
      <vt:lpstr>Office Theme</vt:lpstr>
      <vt:lpstr>Project Review Meeting</vt:lpstr>
      <vt:lpstr>Outline of the presentation</vt:lpstr>
      <vt:lpstr>Problem Statement</vt:lpstr>
      <vt:lpstr>Objectives</vt:lpstr>
      <vt:lpstr>Literature Survey</vt:lpstr>
      <vt:lpstr>Literature Survey</vt:lpstr>
      <vt:lpstr>Research Gap Identification</vt:lpstr>
      <vt:lpstr>Innovation</vt:lpstr>
      <vt:lpstr>Novelty</vt:lpstr>
      <vt:lpstr>Creativity</vt:lpstr>
      <vt:lpstr>Feasibility</vt:lpstr>
      <vt:lpstr>Project Plan</vt:lpstr>
      <vt:lpstr>Proposed Model</vt:lpstr>
      <vt:lpstr>Project Implementation </vt:lpstr>
      <vt:lpstr>Frontend Code </vt:lpstr>
      <vt:lpstr>Backend Code</vt:lpstr>
      <vt:lpstr>OUTPUT  </vt:lpstr>
      <vt:lpstr>Output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Project Review Meeting    on LLM-Based Intelligent Customer Support Chatbot with Knowledge Retrieval</dc:title>
  <dc:creator>Microsoft account</dc:creator>
  <cp:lastModifiedBy>Microsoft account</cp:lastModifiedBy>
  <cp:revision>5</cp:revision>
  <dcterms:created xsi:type="dcterms:W3CDTF">2026-09-16T02:56:26Z</dcterms:created>
  <dcterms:modified xsi:type="dcterms:W3CDTF">2026-09-19T06:11:47Z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2026-08-25T00:00:00Z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2026-09-16T00:00:00Z</vt:filetime>
  </property>
  <property fmtid="{D5CDD505-2E9C-101B-9397-08002B2CF9AE}" pid="6" name="Producer">
    <vt:lpwstr>Adobe PDF Services</vt:lpwstr>
  </property>
</Properties>
</file>